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7"/>
  </p:notesMasterIdLst>
  <p:sldIdLst>
    <p:sldId id="256" r:id="rId2"/>
    <p:sldId id="714" r:id="rId3"/>
    <p:sldId id="674" r:id="rId4"/>
    <p:sldId id="713" r:id="rId5"/>
    <p:sldId id="712" r:id="rId6"/>
    <p:sldId id="676" r:id="rId7"/>
    <p:sldId id="716" r:id="rId8"/>
    <p:sldId id="717" r:id="rId9"/>
    <p:sldId id="718" r:id="rId10"/>
    <p:sldId id="719" r:id="rId11"/>
    <p:sldId id="720" r:id="rId12"/>
    <p:sldId id="721" r:id="rId13"/>
    <p:sldId id="722" r:id="rId14"/>
    <p:sldId id="711" r:id="rId15"/>
    <p:sldId id="30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81" d="100"/>
          <a:sy n="81" d="100"/>
        </p:scale>
        <p:origin x="643" y="53"/>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24-05-2026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xml:space="preserve">: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63398" y="2543193"/>
            <a:ext cx="12518795" cy="26321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Document Navigator - A Transparent RAG Assistant</a:t>
            </a:r>
          </a:p>
          <a:p>
            <a:pPr algn="ctr"/>
            <a:r>
              <a:rPr lang="en-US" sz="4400" b="1" dirty="0">
                <a:latin typeface="Calibri" panose="020F0502020204030204" pitchFamily="34" charset="0"/>
              </a:rPr>
              <a:t>BY</a:t>
            </a:r>
          </a:p>
          <a:p>
            <a:pPr algn="ctr"/>
            <a:r>
              <a:rPr lang="en-US" sz="4400" b="1" dirty="0">
                <a:latin typeface="Calibri" panose="020F0502020204030204" pitchFamily="34" charset="0"/>
              </a:rPr>
              <a:t xml:space="preserve"> Mohammed Wasiullah</a:t>
            </a:r>
          </a:p>
        </p:txBody>
      </p:sp>
      <p:sp>
        <p:nvSpPr>
          <p:cNvPr id="3" name="TextBox 2">
            <a:extLst>
              <a:ext uri="{FF2B5EF4-FFF2-40B4-BE49-F238E27FC236}">
                <a16:creationId xmlns:a16="http://schemas.microsoft.com/office/drawing/2014/main" id="{6D52A1E9-88BD-9467-596A-64EE88E89F7E}"/>
              </a:ext>
            </a:extLst>
          </p:cNvPr>
          <p:cNvSpPr txBox="1"/>
          <p:nvPr/>
        </p:nvSpPr>
        <p:spPr>
          <a:xfrm>
            <a:off x="4110087" y="4204355"/>
            <a:ext cx="540533" cy="369332"/>
          </a:xfrm>
          <a:prstGeom prst="rect">
            <a:avLst/>
          </a:prstGeom>
          <a:noFill/>
        </p:spPr>
        <p:txBody>
          <a:bodyPr wrap="none" rtlCol="0">
            <a:spAutoFit/>
          </a:bodyPr>
          <a:lstStyle/>
          <a:p>
            <a:r>
              <a:rPr lang="en-US" dirty="0"/>
              <a:t>Dec</a:t>
            </a:r>
            <a:endParaRPr lang="en-IN" dirty="0"/>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solidFill>
                  <a:srgbClr val="FFFFFF"/>
                </a:solidFill>
                <a:solidFill>
                  <a:srgbClr val="FFFFFF"/>
                </a:solidFill>
              </a:rPr>
              <a:t>Agenda</a:t>
            </a:r>
            <a:endParaRPr lang="en-IN" dirty="0"/>
          </a:p>
        </p:txBody>
      </p:sp>
      <p:sp>
        <p:nvSpPr>
          <p:cNvPr id="3" name="Content Placeholder 2"/>
          <p:cNvSpPr>
            <a:spLocks noGrp="1"/>
          </p:cNvSpPr>
          <p:nvPr>
            <p:ph idx="1"/>
          </p:nvPr>
        </p:nvSpPr>
        <p:spPr/>
        <p:txBody>
          <a:bodyPr/>
          <a:lstStyle/>
          <a:p>
            <a:r>
              <a:rPr lang="en-US" sz="1800" b="1" dirty="0">
                <a:solidFill>
                  <a:srgbClr val="FFFFFF"/>
                </a:solidFill>
                <a:solidFill>
                  <a:srgbClr val="FFFFFF"/>
                </a:solidFill>
              </a:rPr>
              <a:t>01  Problem Statement &amp; Objectives</a:t>
            </a:r>
          </a:p>
          <a:p>
            <a:r>
              <a:rPr lang="en-US" sz="1800" b="1" dirty="0">
                <a:solidFill>
                  <a:srgbClr val="FFFFFF"/>
                </a:solidFill>
                <a:solidFill>
                  <a:srgbClr val="FFFFFF"/>
                </a:solidFill>
              </a:rPr>
              <a:t>02  System Architecture Overview</a:t>
            </a:r>
          </a:p>
          <a:p>
            <a:r>
              <a:rPr lang="en-US" sz="1800" b="1" dirty="0">
                <a:solidFill>
                  <a:srgbClr val="FFFFFF"/>
                </a:solidFill>
                <a:solidFill>
                  <a:srgbClr val="FFFFFF"/>
                </a:solidFill>
              </a:rPr>
              <a:t>03  PDF Ingestion &amp; Chunking Strategy</a:t>
            </a:r>
          </a:p>
          <a:p>
            <a:r>
              <a:rPr lang="en-US" sz="1800" b="1" dirty="0">
                <a:solidFill>
                  <a:srgbClr val="FFFFFF"/>
                </a:solidFill>
                <a:solidFill>
                  <a:srgbClr val="FFFFFF"/>
                </a:solidFill>
              </a:rPr>
              <a:t>04  Embeddings &amp; Vector Indexing (FAISS)</a:t>
            </a:r>
          </a:p>
          <a:p>
            <a:r>
              <a:rPr lang="en-US" sz="1800" b="1" dirty="0">
                <a:solidFill>
                  <a:srgbClr val="FFFFFF"/>
                </a:solidFill>
                <a:solidFill>
                  <a:srgbClr val="FFFFFF"/>
                </a:solidFill>
              </a:rPr>
              <a:t>05  Retrieval Traces &amp; Transparency</a:t>
            </a:r>
          </a:p>
          <a:p>
            <a:r>
              <a:rPr lang="en-US" sz="1800" b="1" dirty="0">
                <a:solidFill>
                  <a:srgbClr val="FFFFFF"/>
                </a:solidFill>
                <a:solidFill>
                  <a:srgbClr val="FFFFFF"/>
                </a:solidFill>
              </a:rPr>
              <a:t>06  Answer Generation &amp; Citations</a:t>
            </a:r>
          </a:p>
          <a:p>
            <a:r>
              <a:rPr lang="en-US" sz="1800" b="1" dirty="0">
                <a:solidFill>
                  <a:srgbClr val="FFFFFF"/>
                </a:solidFill>
                <a:solidFill>
                  <a:srgbClr val="FFFFFF"/>
                </a:solidFill>
              </a:rPr>
              <a:t>07  Demo Flow</a:t>
            </a:r>
          </a:p>
          <a:p>
            <a:r>
              <a:rPr lang="en-US" sz="1800" b="1" dirty="0">
                <a:solidFill>
                  <a:srgbClr val="FFFFFF"/>
                </a:solidFill>
                <a:solidFill>
                  <a:srgbClr val="FFFFFF"/>
                </a:solidFill>
              </a:rPr>
              <a:t>08  Evaluation Results (Precision@k)</a:t>
            </a:r>
          </a:p>
          <a:p>
            <a:r>
              <a:rPr lang="en-US" sz="1800" b="1" dirty="0">
                <a:solidFill>
                  <a:srgbClr val="FFFFFF"/>
                </a:solidFill>
                <a:solidFill>
                  <a:srgbClr val="FFFFFF"/>
                </a:solidFill>
              </a:rPr>
              <a:t>09  Failure Cases &amp; Improvements</a:t>
            </a:r>
          </a:p>
          <a:p>
            <a:r>
              <a:rPr lang="en-US" sz="1800" b="1" dirty="0">
                <a:solidFill>
                  <a:srgbClr val="FFFFFF"/>
                </a:solidFill>
                <a:solidFill>
                  <a:srgbClr val="FFFFFF"/>
                </a:solidFill>
              </a:rPr>
              <a:t>10  Next Steps</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solidFill>
                  <a:srgbClr val="FFFFFF"/>
                </a:solidFill>
              </a:rPr>
              <a:t>Problem Statement &amp; Objectives</a:t>
            </a:r>
          </a:p>
        </p:txBody>
      </p:sp>
      <p:sp>
        <p:nvSpPr>
          <p:cNvPr id="3" name="Content Placeholder 2"/>
          <p:cNvSpPr>
            <a:spLocks noGrp="1"/>
          </p:cNvSpPr>
          <p:nvPr>
            <p:ph idx="1"/>
          </p:nvPr>
        </p:nvSpPr>
        <p:spPr>
          <a:xfrm>
            <a:off x="678884" y="1675075"/>
            <a:ext cx="10834234" cy="4398066"/>
          </a:xfrm>
          <a:prstGeom prst="rect">
            <a:avLst/>
          </a:prstGeom>
        </p:spPr>
        <p:txBody>
          <a:bodyPr/>
          <a:lstStyle/>
          <a:p>
            <a:pPr lvl="0"/>
            <a:r>
              <a:rPr lang="en-US" sz="1800" b="1" dirty="0">
                <a:solidFill>
                  <a:srgbClr val="FFFFFF"/>
                </a:solidFill>
                <a:solidFill>
                  <a:srgbClr val="FFFFFF"/>
                </a:solidFill>
              </a:rPr>
              <a:t>The Problem</a:t>
            </a:r>
          </a:p>
          <a:p>
            <a:pPr lvl="1"/>
            <a:r>
              <a:rPr lang="en-US" sz="1600" dirty="0">
                <a:solidFill>
                  <a:srgbClr val="FFFFFF"/>
                </a:solidFill>
                <a:solidFill>
                  <a:srgbClr val="FFFFFF"/>
                </a:solidFill>
              </a:rPr>
              <a:t>PDFs are information-dense but not machine-queryable — finding answers requires reading entire documents</a:t>
            </a:r>
          </a:p>
          <a:p>
            <a:pPr lvl="1"/>
            <a:r>
              <a:rPr lang="en-US" sz="1600" dirty="0">
                <a:solidFill>
                  <a:srgbClr val="FFFFFF"/>
                </a:solidFill>
                <a:solidFill>
                  <a:srgbClr val="FFFFFF"/>
                </a:solidFill>
              </a:rPr>
              <a:t>Existing tools answer questions but give no visibility into why — no sources, no scores, no traces</a:t>
            </a:r>
          </a:p>
          <a:p>
            <a:pPr lvl="1"/>
            <a:r>
              <a:rPr lang="en-US" sz="1600" dirty="0">
                <a:solidFill>
                  <a:srgbClr val="FFFFFF"/>
                </a:solidFill>
                <a:solidFill>
                  <a:srgbClr val="FFFFFF"/>
                </a:solidFill>
              </a:rPr>
              <a:t>Low-confidence answers are indistinguishable from high-confidence ones without transparency</a:t>
            </a:r>
          </a:p>
          <a:p>
            <a:pPr lvl="0"/>
            <a:r>
              <a:rPr lang="en-US" sz="1800" b="1" dirty="0">
                <a:solidFill>
                  <a:srgbClr val="FFFFFF"/>
                </a:solidFill>
                <a:solidFill>
                  <a:srgbClr val="FFFFFF"/>
                </a:solidFill>
              </a:rPr>
              <a:t>Our Objectives</a:t>
            </a:r>
          </a:p>
          <a:p>
            <a:pPr lvl="1"/>
            <a:r>
              <a:rPr lang="en-US" sz="1600" dirty="0">
                <a:solidFill>
                  <a:srgbClr val="FFFFFF"/>
                </a:solidFill>
                <a:solidFill>
                  <a:srgbClr val="FFFFFF"/>
                </a:solidFill>
              </a:rPr>
              <a:t>Build a local PDF Q&amp;A pipeline: ingestion, chunking, embedding, retrieval, generation</a:t>
            </a:r>
          </a:p>
          <a:p>
            <a:pPr lvl="1"/>
            <a:r>
              <a:rPr lang="en-US" sz="1600" dirty="0">
                <a:solidFill>
                  <a:srgbClr val="FFFFFF"/>
                </a:solidFill>
                <a:solidFill>
                  <a:srgbClr val="FFFFFF"/>
                </a:solidFill>
              </a:rPr>
              <a:t>Show transparent retrieval traces: top-k sources, similarity scores, chunk IDs</a:t>
            </a:r>
          </a:p>
          <a:p>
            <a:pPr lvl="1"/>
            <a:r>
              <a:rPr lang="en-US" sz="1600" dirty="0">
                <a:solidFill>
                  <a:srgbClr val="FFFFFF"/>
                </a:solidFill>
                <a:solidFill>
                  <a:srgbClr val="FFFFFF"/>
                </a:solidFill>
              </a:rPr>
              <a:t>Ground every answer with citations in [filename:page] format</a:t>
            </a:r>
          </a:p>
          <a:p>
            <a:pPr lvl="1"/>
            <a:r>
              <a:rPr lang="en-US" sz="1600" dirty="0">
                <a:solidFill>
                  <a:srgbClr val="FFFFFF"/>
                </a:solidFill>
                <a:solidFill>
                  <a:srgbClr val="FFFFFF"/>
                </a:solidFill>
              </a:rPr>
              <a:t>Evaluate retrieval quality using Precision@k with a labeled eval 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Part 1: Architecture</a:t>
            </a:r>
          </a:p>
        </p:txBody>
      </p:sp>
      <p:sp>
        <p:nvSpPr>
          <p:cNvPr id="5" name="Content Placeholder 4"/>
          <p:cNvSpPr>
            <a:spLocks noGrp="1"/>
          </p:cNvSpPr>
          <p:nvPr>
            <p:ph idx="1"/>
          </p:nvPr>
        </p:nvSpPr>
        <p:spPr/>
        <p:txBody>
          <a:bodyPr/>
          <a:lstStyle/>
          <a:p>
            <a:r>
              <a:rPr lang="en-US" sz="2400" dirty="0"/>
              <a:t>Building the RAG Pipeline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RAG Pipeline Overview</a:t>
            </a:r>
          </a:p>
        </p:txBody>
      </p:sp>
      <p:sp>
        <p:nvSpPr>
          <p:cNvPr id="5" name="Content Placeholder 4"/>
          <p:cNvSpPr>
            <a:spLocks noGrp="1"/>
          </p:cNvSpPr>
          <p:nvPr>
            <p:ph idx="1"/>
          </p:nvPr>
        </p:nvSpPr>
        <p:spPr/>
        <p:txBody>
          <a:bodyPr/>
          <a:lstStyle/>
          <a:p>
            <a:r>
              <a:rPr lang="en-US" sz="2400" dirty="0"/>
              <a:t>PDF Ingestion  →  Chunking  →  Embedding  →  FAISS Index  →  Retrieval  →  Answer + Citations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rgbClr val="FFFFFF"/>
                </a:solidFill>
                <a:solidFill>
                  <a:srgbClr val="FFFFFF"/>
                </a:solidFill>
              </a:rPr>
              <a:t>PDF Ingestion &amp; Chunking Strategy</a:t>
            </a:r>
          </a:p>
        </p:txBody>
      </p:sp>
      <p:sp>
        <p:nvSpPr>
          <p:cNvPr id="2" name="Content Placeholder 1"/>
          <p:cNvSpPr>
            <a:spLocks noGrp="1"/>
          </p:cNvSpPr>
          <p:nvPr>
            <p:ph idx="1"/>
          </p:nvPr>
        </p:nvSpPr>
        <p:spPr/>
        <p:txBody>
          <a:bodyPr lIns="0" tIns="0" rIns="0" bIns="0">
            <a:normAutofit/>
          </a:bodyPr>
          <a:lstStyle/>
          <a:p>
            <a:pPr marL="0" indent="0">
              <a:buNone/>
            </a:pPr>
            <a:r>
              <a:rPr lang="en-US" sz="2000" b="1" dirty="0">
                <a:solidFill>
                  <a:srgbClr val="FFFFFF"/>
                </a:solidFill>
                <a:solidFill>
                  <a:srgbClr val="FFFFFF"/>
                </a:solidFill>
              </a:rPr>
              <a:t>PDF Ingestion</a:t>
            </a:r>
          </a:p>
          <a:p>
            <a:pPr marL="0" indent="0">
              <a:buNone/>
            </a:pPr>
            <a:r>
              <a:rPr lang="en-US" sz="1600" dirty="0">
                <a:solidFill>
                  <a:srgbClr val="FFFFFF"/>
                </a:solidFill>
                <a:solidFill>
                  <a:srgbClr val="FFFFFF"/>
                </a:solidFill>
              </a:rPr>
              <a:t>PyPDF2 extracts text page-by-page from all PDFs in the /pdfs folder</a:t>
            </a:r>
          </a:p>
          <a:p>
            <a:pPr marL="0" indent="0">
              <a:buNone/>
            </a:pPr>
            <a:r>
              <a:rPr lang="en-US" sz="1600" dirty="0">
                <a:solidFill>
                  <a:srgbClr val="FFFFFF"/>
                </a:solidFill>
                <a:solidFill>
                  <a:srgbClr val="FFFFFF"/>
                </a:solidFill>
              </a:rPr>
              <a:t>Each chunk stored with: chunk_id, source, page, chunk_index, text</a:t>
            </a:r>
          </a:p>
          <a:p>
            <a:pPr marL="0" indent="0">
              <a:buNone/>
            </a:pPr>
            <a:r>
              <a:rPr lang="en-US" sz="1600" dirty="0">
                <a:solidFill>
                  <a:srgbClr val="FFFFFF"/>
                </a:solidFill>
                <a:solidFill>
                  <a:srgbClr val="FFFFFF"/>
                </a:solidFill>
              </a:rPr>
              <a:t>Output: chunks.jsonl (one JSON record per chunk)</a:t>
            </a:r>
          </a:p>
          <a:p>
            <a:pPr marL="0" indent="0">
              <a:buNone/>
            </a:pPr>
            <a:r>
              <a:rPr lang="en-US" sz="2000" b="1" dirty="0">
                <a:solidFill>
                  <a:srgbClr val="FFFFFF"/>
                </a:solidFill>
                <a:solidFill>
                  <a:srgbClr val="FFFFFF"/>
                </a:solidFill>
              </a:rPr>
              <a:t>Chunking Strategy</a:t>
            </a:r>
          </a:p>
          <a:p>
            <a:pPr marL="0" indent="0">
              <a:buNone/>
            </a:pPr>
            <a:r>
              <a:rPr lang="en-US" sz="1600" dirty="0">
                <a:solidFill>
                  <a:srgbClr val="FFFFFF"/>
                </a:solidFill>
                <a:solidFill>
                  <a:srgbClr val="FFFFFF"/>
                </a:solidFill>
              </a:rPr>
              <a:t>Fixed-size sliding window: chunk_size=1000 chars, overlap=200 chars</a:t>
            </a:r>
          </a:p>
          <a:p>
            <a:pPr marL="0" indent="0">
              <a:buNone/>
            </a:pPr>
            <a:r>
              <a:rPr lang="en-US" sz="1600" dirty="0">
                <a:solidFill>
                  <a:srgbClr val="FFFFFF"/>
                </a:solidFill>
                <a:solidFill>
                  <a:srgbClr val="FFFFFF"/>
                </a:solidFill>
              </a:rPr>
              <a:t>Overlap preserves context across chunk boundaries</a:t>
            </a:r>
          </a:p>
          <a:p>
            <a:pPr marL="0" indent="0">
              <a:buNone/>
            </a:pPr>
            <a:r>
              <a:rPr lang="en-US" sz="1600" dirty="0">
                <a:solidFill>
                  <a:srgbClr val="FFFFFF"/>
                </a:solidFill>
                <a:solidFill>
                  <a:srgbClr val="FFFFFF"/>
                </a:solidFill>
              </a:rPr>
              <a:t>Deterministic: reproducible runs with identical output</a:t>
            </a:r>
          </a:p>
          <a:p>
            <a:pPr marL="0" indent="0">
              <a:buNone/>
            </a:pPr>
            <a:r>
              <a:rPr lang="en-US" sz="1600" dirty="0">
                <a:solidFill>
                  <a:srgbClr val="FFFFFF"/>
                </a:solidFill>
                <a:solidFill>
                  <a:srgbClr val="FFFFFF"/>
                </a:solidFill>
              </a:rPr>
              <a:t>Configurable via --chunk_size and --overlap CLI flags in ingest.py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solidFill>
                  <a:srgbClr val="FFFFFF"/>
                </a:solidFill>
              </a:rPr>
              <a:t>Embeddings &amp; Vector Indexing (FAISS)</a:t>
            </a:r>
          </a:p>
        </p:txBody>
      </p:sp>
      <p:sp>
        <p:nvSpPr>
          <p:cNvPr id="3" name="Content Placeholder 2"/>
          <p:cNvSpPr>
            <a:spLocks noGrp="1"/>
          </p:cNvSpPr>
          <p:nvPr>
            <p:ph idx="1"/>
          </p:nvPr>
        </p:nvSpPr>
        <p:spPr>
          <a:xfrm>
            <a:off x="678884" y="1675075"/>
            <a:ext cx="10834234" cy="4398066"/>
          </a:xfrm>
          <a:prstGeom prst="rect">
            <a:avLst/>
          </a:prstGeom>
        </p:spPr>
        <p:txBody>
          <a:bodyPr/>
          <a:lstStyle/>
          <a:p>
            <a:pPr lvl="0"/>
            <a:r>
              <a:rPr lang="en-US" sz="1700" dirty="0">
                <a:solidFill>
                  <a:srgbClr val="FFFFFF"/>
                </a:solidFill>
                <a:solidFill>
                  <a:srgbClr val="FFFFFF"/>
                </a:solidFill>
              </a:rPr>
              <a:t>Embedding Model</a:t>
            </a:r>
          </a:p>
          <a:p>
            <a:pPr lvl="1"/>
            <a:r>
              <a:rPr lang="en-US" sz="1700" dirty="0">
                <a:solidFill>
                  <a:srgbClr val="FFFFFF"/>
                </a:solidFill>
                <a:solidFill>
                  <a:srgbClr val="FFFFFF"/>
                </a:solidFill>
              </a:rPr>
              <a:t>all-MiniLM-L6-v2 from sentence-transformers — fast, accurate, 384-dim vectors</a:t>
            </a:r>
          </a:p>
          <a:p>
            <a:pPr lvl="1"/>
            <a:r>
              <a:rPr lang="en-US" sz="1700" dirty="0">
                <a:solidFill>
                  <a:srgbClr val="FFFFFF"/>
                </a:solidFill>
                <a:solidFill>
                  <a:srgbClr val="FFFFFF"/>
                </a:solidFill>
              </a:rPr>
              <a:t>No API key required: runs fully locally on CPU</a:t>
            </a:r>
          </a:p>
          <a:p>
            <a:pPr lvl="1"/>
            <a:r>
              <a:rPr lang="en-US" sz="1700" dirty="0">
                <a:solidFill>
                  <a:srgbClr val="FFFFFF"/>
                </a:solidFill>
                <a:solidFill>
                  <a:srgbClr val="FFFFFF"/>
                </a:solidFill>
              </a:rPr>
              <a:t>Each chunk encoded to a normalized L2 embedding vector</a:t>
            </a:r>
          </a:p>
          <a:p>
            <a:pPr lvl="0"/>
            <a:r>
              <a:rPr lang="en-US" sz="1700" dirty="0">
                <a:solidFill>
                  <a:srgbClr val="FFFFFF"/>
                </a:solidFill>
                <a:solidFill>
                  <a:srgbClr val="FFFFFF"/>
                </a:solidFill>
              </a:rPr>
              <a:t>FAISS Index</a:t>
            </a:r>
          </a:p>
          <a:p>
            <a:pPr lvl="1"/>
            <a:r>
              <a:rPr lang="en-US" sz="1700" dirty="0">
                <a:solidFill>
                  <a:srgbClr val="FFFFFF"/>
                </a:solidFill>
                <a:solidFill>
                  <a:srgbClr val="FFFFFF"/>
                </a:solidFill>
              </a:rPr>
              <a:t>IndexFlatIP (Inner Product) = cosine similarity on normalized vectors</a:t>
            </a:r>
          </a:p>
          <a:p>
            <a:pPr lvl="1"/>
            <a:r>
              <a:rPr lang="en-US" sz="1700" dirty="0">
                <a:solidFill>
                  <a:srgbClr val="FFFFFF"/>
                </a:solidFill>
                <a:solidFill>
                  <a:srgbClr val="FFFFFF"/>
                </a:solidFill>
              </a:rPr>
              <a:t>Instantaneous search: &lt;100ms per query on 10+ PDFs</a:t>
            </a:r>
          </a:p>
          <a:p>
            <a:pPr lvl="1"/>
            <a:r>
              <a:rPr lang="en-US" sz="1700" dirty="0">
                <a:solidFill>
                  <a:srgbClr val="FFFFFF"/>
                </a:solidFill>
                <a:solidFill>
                  <a:srgbClr val="FFFFFF"/>
                </a:solidFill>
              </a:rPr>
              <a:t>Index persisted to faiss.index; metadata in faiss.index.meta.json</a:t>
            </a:r>
          </a:p>
          <a:p>
            <a:pPr lvl="0"/>
            <a:r>
              <a:rPr lang="en-US" sz="1700" dirty="0">
                <a:solidFill>
                  <a:srgbClr val="FFFFFF"/>
                </a:solidFill>
                <a:solidFill>
                  <a:srgbClr val="FFFFFF"/>
                </a:solidFill>
              </a:rPr>
              <a:t>Why FAISS?</a:t>
            </a:r>
          </a:p>
          <a:p>
            <a:pPr lvl="1"/>
            <a:r>
              <a:rPr lang="en-US" sz="1700" dirty="0">
                <a:solidFill>
                  <a:srgbClr val="FFFFFF"/>
                </a:solidFill>
                <a:solidFill>
                  <a:srgbClr val="FFFFFF"/>
                </a:solidFill>
              </a:rPr>
              <a:t>Local: no cloud, no API costs, privacy-safe</a:t>
            </a:r>
          </a:p>
          <a:p>
            <a:pPr lvl="1"/>
            <a:r>
              <a:rPr lang="en-US" sz="1700" dirty="0">
                <a:solidFill>
                  <a:srgbClr val="FFFFFF"/>
                </a:solidFill>
                <a:solidFill>
                  <a:srgbClr val="FFFFFF"/>
                </a:solidFill>
              </a:rPr>
              <a:t>Scalable: handles thousands of chunks with sub-second latency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Part 2: Retrieval &amp; Transparency</a:t>
            </a:r>
          </a:p>
        </p:txBody>
      </p:sp>
      <p:sp>
        <p:nvSpPr>
          <p:cNvPr id="5" name="Content Placeholder 4"/>
          <p:cNvSpPr>
            <a:spLocks noGrp="1"/>
          </p:cNvSpPr>
          <p:nvPr>
            <p:ph idx="1"/>
          </p:nvPr>
        </p:nvSpPr>
        <p:spPr/>
        <p:txBody>
          <a:bodyPr/>
          <a:lstStyle/>
          <a:p>
            <a:r>
              <a:rPr lang="en-US" sz="2400" dirty="0"/>
              <a:t>Traces, Citations &amp; Low-Confidence Handling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FFFF"/>
                </a:solidFill>
                <a:solidFill>
                  <a:srgbClr val="FFFFFF"/>
                </a:solidFill>
              </a:rPr>
              <a:t>Transparent Retrieval Traces</a:t>
            </a:r>
          </a:p>
        </p:txBody>
      </p:sp>
      <p:sp>
        <p:nvSpPr>
          <p:cNvPr id="5" name="Content Placeholder 4"/>
          <p:cNvSpPr>
            <a:spLocks noGrp="1"/>
          </p:cNvSpPr>
          <p:nvPr>
            <p:ph idx="1"/>
          </p:nvPr>
        </p:nvSpPr>
        <p:spPr/>
        <p:txBody>
          <a:bodyPr/>
          <a:lstStyle/>
          <a:p>
            <a:r>
              <a:rPr lang="en-US" sz="2400" dirty="0">
                <a:solidFill>
                  <a:srgbClr val="FFFFFF"/>
                </a:solidFill>
                <a:solidFill>
                  <a:srgbClr val="FFFFFF"/>
                </a:solidFill>
              </a:rPr>
              <a:t>Every answer shows: Chunk ID  |  Source:Page  |  Similarity Score  |  Full Chunk 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solidFill>
                  <a:srgbClr val="FFFFFF"/>
                </a:solidFill>
                <a:solidFill>
                  <a:srgbClr val="FFFFFF"/>
                </a:solidFill>
              </a:rPr>
              <a:t>Citations &amp; Low-Confidence Handling</a:t>
            </a:r>
          </a:p>
        </p:txBody>
      </p:sp>
      <p:sp>
        <p:nvSpPr>
          <p:cNvPr id="2" name="Content Placeholder 1"/>
          <p:cNvSpPr>
            <a:spLocks noGrp="1"/>
          </p:cNvSpPr>
          <p:nvPr>
            <p:ph idx="1"/>
          </p:nvPr>
        </p:nvSpPr>
        <p:spPr/>
        <p:txBody>
          <a:bodyPr lIns="0" tIns="0" rIns="0" bIns="0">
            <a:normAutofit/>
          </a:bodyPr>
          <a:lstStyle/>
          <a:p>
            <a:pPr marL="0" indent="0">
              <a:buNone/>
            </a:pPr>
            <a:r>
              <a:rPr lang="en-US" sz="2000" b="1" dirty="0">
                <a:solidFill>
                  <a:srgbClr val="FFFFFF"/>
                </a:solidFill>
                <a:solidFill>
                  <a:srgbClr val="FFFFFF"/>
                </a:solidFill>
              </a:rPr>
              <a:t>Citation Format</a:t>
            </a:r>
          </a:p>
          <a:p>
            <a:pPr marL="0" indent="0">
              <a:buNone/>
            </a:pPr>
            <a:r>
              <a:rPr lang="en-US" sz="1600" dirty="0">
                <a:solidFill>
                  <a:srgbClr val="FFFFFF"/>
                </a:solidFill>
                <a:solidFill>
                  <a:srgbClr val="FFFFFF"/>
                </a:solidFill>
              </a:rPr>
              <a:t>Every answer tagged with [filename:page]  e.g. [policy_shipping_returns.pdf:1]</a:t>
            </a:r>
          </a:p>
          <a:p>
            <a:pPr marL="0" indent="0">
              <a:buNone/>
            </a:pPr>
            <a:r>
              <a:rPr lang="en-US" sz="1600" dirty="0">
                <a:solidFill>
                  <a:srgbClr val="FFFFFF"/>
                </a:solidFill>
                <a:solidFill>
                  <a:srgbClr val="FFFFFF"/>
                </a:solidFill>
              </a:rPr>
              <a:t>All top-k sources cited; user can open the PDF and verify</a:t>
            </a:r>
          </a:p>
          <a:p>
            <a:pPr marL="0" indent="0">
              <a:buNone/>
            </a:pPr>
            <a:r>
              <a:rPr lang="en-US" sz="1600" dirty="0">
                <a:solidFill>
                  <a:srgbClr val="FFFFFF"/>
                </a:solidFill>
                <a:solidFill>
                  <a:srgbClr val="FFFFFF"/>
                </a:solidFill>
              </a:rPr>
              <a:t>Deduplication by (source, page) prevents repeated citations</a:t>
            </a:r>
          </a:p>
          <a:p>
            <a:pPr marL="0" indent="0">
              <a:buNone/>
            </a:pPr>
            <a:r>
              <a:rPr lang="en-US" sz="2000" b="1" dirty="0">
                <a:solidFill>
                  <a:srgbClr val="FFFFFF"/>
                </a:solidFill>
                <a:solidFill>
                  <a:srgbClr val="FFFFFF"/>
                </a:solidFill>
              </a:rPr>
              <a:t>Low-Confidence Handling</a:t>
            </a:r>
          </a:p>
          <a:p>
            <a:pPr marL="0" indent="0">
              <a:buNone/>
            </a:pPr>
            <a:r>
              <a:rPr lang="en-US" sz="1600" dirty="0">
                <a:solidFill>
                  <a:srgbClr val="FFFFFF"/>
                </a:solidFill>
                <a:solidFill>
                  <a:srgbClr val="FFFFFF"/>
                </a:solidFill>
              </a:rPr>
              <a:t>Tunable similarity threshold (default 0.25)</a:t>
            </a:r>
          </a:p>
          <a:p>
            <a:pPr marL="0" indent="0">
              <a:buNone/>
            </a:pPr>
            <a:r>
              <a:rPr lang="en-US" sz="1600" dirty="0">
                <a:solidFill>
                  <a:srgbClr val="FFFFFF"/>
                </a:solidFill>
                <a:solidFill>
                  <a:srgbClr val="FFFFFF"/>
                </a:solidFill>
              </a:rPr>
              <a:t>If top chunk score &lt; threshold: “I don’t have strong evidence to answer confidently”</a:t>
            </a:r>
          </a:p>
          <a:p>
            <a:pPr marL="0" indent="0">
              <a:buNone/>
            </a:pPr>
            <a:r>
              <a:rPr lang="en-US" sz="1600" dirty="0">
                <a:solidFill>
                  <a:srgbClr val="FFFFFF"/>
                </a:solidFill>
                <a:solidFill>
                  <a:srgbClr val="FFFFFF"/>
                </a:solidFill>
              </a:rPr>
              <a:t>If no chunks pass filter: explicit refusal with clarification request</a:t>
            </a:r>
          </a:p>
          <a:p>
            <a:pPr marL="0" indent="0">
              <a:buNone/>
            </a:pPr>
            <a:r>
              <a:rPr lang="en-US" sz="1600" dirty="0">
                <a:solidFill>
                  <a:srgbClr val="FFFFFF"/>
                </a:solidFill>
                <a:solidFill>
                  <a:srgbClr val="FFFFFF"/>
                </a:solidFill>
              </a:rPr>
              <a:t>Optional cross-encoder reranker (ms-marco) for precision boost on ambiguous queries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solidFill>
                  <a:srgbClr val="FFFFFF"/>
                </a:solidFill>
              </a:rPr>
              <a:t>Demo Flow — Streamlit App</a:t>
            </a:r>
          </a:p>
        </p:txBody>
      </p:sp>
      <p:sp>
        <p:nvSpPr>
          <p:cNvPr id="3" name="Content Placeholder 2"/>
          <p:cNvSpPr>
            <a:spLocks noGrp="1"/>
          </p:cNvSpPr>
          <p:nvPr>
            <p:ph idx="1"/>
          </p:nvPr>
        </p:nvSpPr>
        <p:spPr>
          <a:xfrm>
            <a:off x="678884" y="1675075"/>
            <a:ext cx="10834234" cy="4398066"/>
          </a:xfrm>
          <a:prstGeom prst="rect">
            <a:avLst/>
          </a:prstGeom>
        </p:spPr>
        <p:txBody>
          <a:bodyPr/>
          <a:lstStyle/>
          <a:p>
            <a:pPr lvl="0"/>
            <a:r>
              <a:rPr lang="en-US" sz="1700" dirty="0">
                <a:solidFill>
                  <a:srgbClr val="FFFFFF"/>
                </a:solidFill>
                <a:solidFill>
                  <a:srgbClr val="FFFFFF"/>
                </a:solidFill>
              </a:rPr>
              <a:t>Step 1: Upload PDFs</a:t>
            </a:r>
          </a:p>
          <a:p>
            <a:pPr lvl="1"/>
            <a:r>
              <a:rPr lang="en-US" sz="1700" dirty="0">
                <a:solidFill>
                  <a:srgbClr val="FFFFFF"/>
                </a:solidFill>
                <a:solidFill>
                  <a:srgbClr val="FFFFFF"/>
                </a:solidFill>
              </a:rPr>
              <a:t>Drag-and-drop PDF upload in sidebar; auto-saved to /pdfs folder</a:t>
            </a:r>
          </a:p>
          <a:p>
            <a:pPr lvl="0"/>
            <a:r>
              <a:rPr lang="en-US" sz="1700" dirty="0">
                <a:solidFill>
                  <a:srgbClr val="FFFFFF"/>
                </a:solidFill>
                <a:solidFill>
                  <a:srgbClr val="FFFFFF"/>
                </a:solidFill>
              </a:rPr>
              <a:t>Step 2: Build Index</a:t>
            </a:r>
          </a:p>
          <a:p>
            <a:pPr lvl="1"/>
            <a:r>
              <a:rPr lang="en-US" sz="1700" dirty="0">
                <a:solidFill>
                  <a:srgbClr val="FFFFFF"/>
                </a:solidFill>
                <a:solidFill>
                  <a:srgbClr val="FFFFFF"/>
                </a:solidFill>
              </a:rPr>
              <a:t>Click (Re)ingest — runs ingestion, chunking, embedding, and FAISS indexing</a:t>
            </a:r>
          </a:p>
          <a:p>
            <a:pPr lvl="0"/>
            <a:r>
              <a:rPr lang="en-US" sz="1700" dirty="0">
                <a:solidFill>
                  <a:srgbClr val="FFFFFF"/>
                </a:solidFill>
                <a:solidFill>
                  <a:srgbClr val="FFFFFF"/>
                </a:solidFill>
              </a:rPr>
              <a:t>Step 3: Ask a Question</a:t>
            </a:r>
          </a:p>
          <a:p>
            <a:pPr lvl="1"/>
            <a:r>
              <a:rPr lang="en-US" sz="1700" dirty="0">
                <a:solidFill>
                  <a:srgbClr val="FFFFFF"/>
                </a:solidFill>
                <a:solidFill>
                  <a:srgbClr val="FFFFFF"/>
                </a:solidFill>
              </a:rPr>
              <a:t>Type a natural-language question in the main input box</a:t>
            </a:r>
          </a:p>
          <a:p>
            <a:pPr lvl="0"/>
            <a:r>
              <a:rPr lang="en-US" sz="1700" dirty="0">
                <a:solidFill>
                  <a:srgbClr val="FFFFFF"/>
                </a:solidFill>
                <a:solidFill>
                  <a:srgbClr val="FFFFFF"/>
                </a:solidFill>
              </a:rPr>
              <a:t>Step 4: View Answer + Traces</a:t>
            </a:r>
          </a:p>
          <a:p>
            <a:pPr lvl="1"/>
            <a:r>
              <a:rPr lang="en-US" sz="1700" dirty="0">
                <a:solidFill>
                  <a:srgbClr val="FFFFFF"/>
                </a:solidFill>
                <a:solidFill>
                  <a:srgbClr val="FFFFFF"/>
                </a:solidFill>
              </a:rPr>
              <a:t>Answer displayed with color-coded confidence (green = high, amber = low)</a:t>
            </a:r>
          </a:p>
          <a:p>
            <a:pPr lvl="1"/>
            <a:r>
              <a:rPr lang="en-US" sz="1700" dirty="0">
                <a:solidFill>
                  <a:srgbClr val="FFFFFF"/>
                </a:solidFill>
                <a:solidFill>
                  <a:srgbClr val="FFFFFF"/>
                </a:solidFill>
              </a:rPr>
              <a:t>Expandable retrieval trace: chunk ID, source:page, score, full text</a:t>
            </a:r>
          </a:p>
          <a:p>
            <a:pPr lvl="1"/>
            <a:r>
              <a:rPr lang="en-US" sz="1700" dirty="0">
                <a:solidFill>
                  <a:srgbClr val="FFFFFF"/>
                </a:solidFill>
                <a:solidFill>
                  <a:srgbClr val="FFFFFF"/>
                </a:solidFill>
              </a:rPr>
              <a:t>All citations shown in [filename:page] format</a:t>
            </a:r>
          </a:p>
          <a:p>
            <a:pPr lvl="0"/>
            <a:r>
              <a:rPr lang="en-US" sz="1700" dirty="0">
                <a:solidFill>
                  <a:srgbClr val="FFFFFF"/>
                </a:solidFill>
                <a:solidFill>
                  <a:srgbClr val="FFFFFF"/>
                </a:solidFill>
              </a:rPr>
              <a:t>Step 5: Tune</a:t>
            </a:r>
          </a:p>
          <a:p>
            <a:pPr lvl="1"/>
            <a:r>
              <a:rPr lang="en-US" sz="1700" dirty="0">
                <a:solidFill>
                  <a:srgbClr val="FFFFFF"/>
                </a:solidFill>
                <a:solidFill>
                  <a:srgbClr val="FFFFFF"/>
                </a:solidFill>
              </a:rPr>
              <a:t>Adjust Top-k, threshold, deduplication, and optional reranker from sidebar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Part 3: Evaluation</a:t>
            </a:r>
          </a:p>
        </p:txBody>
      </p:sp>
      <p:sp>
        <p:nvSpPr>
          <p:cNvPr id="5" name="Content Placeholder 4"/>
          <p:cNvSpPr>
            <a:spLocks noGrp="1"/>
          </p:cNvSpPr>
          <p:nvPr>
            <p:ph idx="1"/>
          </p:nvPr>
        </p:nvSpPr>
        <p:spPr/>
        <p:txBody>
          <a:bodyPr/>
          <a:lstStyle/>
          <a:p>
            <a:r>
              <a:rPr lang="en-US" sz="2400" dirty="0"/>
              <a:t>Precision@k &amp; Retrieval Quality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solidFill>
                  <a:srgbClr val="FFFFFF"/>
                </a:solidFill>
              </a:rPr>
              <a:t>Evaluation Results — Precision@k</a:t>
            </a:r>
          </a:p>
        </p:txBody>
      </p:sp>
      <p:sp>
        <p:nvSpPr>
          <p:cNvPr id="3" name="Content Placeholder 2"/>
          <p:cNvSpPr>
            <a:spLocks noGrp="1"/>
          </p:cNvSpPr>
          <p:nvPr>
            <p:ph idx="1"/>
          </p:nvPr>
        </p:nvSpPr>
        <p:spPr>
          <a:xfrm>
            <a:off x="678884" y="1675075"/>
            <a:ext cx="10834234" cy="4398066"/>
          </a:xfrm>
          <a:prstGeom prst="rect">
            <a:avLst/>
          </a:prstGeom>
        </p:spPr>
        <p:txBody>
          <a:bodyPr/>
          <a:lstStyle/>
          <a:p>
            <a:pPr lvl="0"/>
            <a:r>
              <a:rPr lang="en-US" sz="1700" dirty="0">
                <a:solidFill>
                  <a:srgbClr val="FFFFFF"/>
                </a:solidFill>
                <a:solidFill>
                  <a:srgbClr val="FFFFFF"/>
                </a:solidFill>
              </a:rPr>
              <a:t>Evaluation Dataset</a:t>
            </a:r>
          </a:p>
          <a:p>
            <a:pPr lvl="1"/>
            <a:r>
              <a:rPr lang="en-US" sz="1700" dirty="0">
                <a:solidFill>
                  <a:srgbClr val="FFFFFF"/>
                </a:solidFill>
                <a:solidFill>
                  <a:srgbClr val="FFFFFF"/>
                </a:solidFill>
              </a:rPr>
              <a:t>15 labeled Q&amp;A pairs in eval_set.csv — questions from 10 synthetic PDFs</a:t>
            </a:r>
          </a:p>
          <a:p>
            <a:pPr lvl="1"/>
            <a:r>
              <a:rPr lang="en-US" sz="1700" dirty="0">
                <a:solidFill>
                  <a:srgbClr val="FFFFFF"/>
                </a:solidFill>
                <a:solidFill>
                  <a:srgbClr val="FFFFFF"/>
                </a:solidFill>
              </a:rPr>
              <a:t>Each question has: id, question, gold_citation (filename:page), gold_key_phrase</a:t>
            </a:r>
          </a:p>
          <a:p>
            <a:pPr lvl="0"/>
            <a:r>
              <a:rPr lang="en-US" sz="1700" dirty="0">
                <a:solidFill>
                  <a:srgbClr val="FFFFFF"/>
                </a:solidFill>
                <a:solidFill>
                  <a:srgbClr val="FFFFFF"/>
                </a:solidFill>
              </a:rPr>
              <a:t>Precision@3 = 1.000  |  Precision@5 = 1.000</a:t>
            </a:r>
          </a:p>
          <a:p>
            <a:pPr lvl="1"/>
            <a:r>
              <a:rPr lang="en-US" sz="1700" dirty="0">
                <a:solidFill>
                  <a:srgbClr val="FFFFFF"/>
                </a:solidFill>
                <a:solidFill>
                  <a:srgbClr val="FFFFFF"/>
                </a:solidFill>
              </a:rPr>
              <a:t>100% of eval questions have the correct citation in top-3 and top-5 results</a:t>
            </a:r>
          </a:p>
          <a:p>
            <a:pPr lvl="1"/>
            <a:r>
              <a:rPr lang="en-US" sz="1700" dirty="0">
                <a:solidFill>
                  <a:srgbClr val="FFFFFF"/>
                </a:solidFill>
                <a:solidFill>
                  <a:srgbClr val="FFFFFF"/>
                </a:solidFill>
              </a:rPr>
              <a:t>Metric: fraction of top-k retrieved chunks that contain the gold citation</a:t>
            </a:r>
          </a:p>
          <a:p>
            <a:pPr lvl="0"/>
            <a:r>
              <a:rPr lang="en-US" sz="1700" dirty="0">
                <a:solidFill>
                  <a:srgbClr val="FFFFFF"/>
                </a:solidFill>
                <a:solidFill>
                  <a:srgbClr val="FFFFFF"/>
                </a:solidFill>
              </a:rPr>
              <a:t>Success Examples</a:t>
            </a:r>
          </a:p>
          <a:p>
            <a:pPr lvl="1"/>
            <a:r>
              <a:rPr lang="en-US" sz="1700" dirty="0">
                <a:solidFill>
                  <a:srgbClr val="FFFFFF"/>
                </a:solidFill>
                <a:solidFill>
                  <a:srgbClr val="FFFFFF"/>
                </a:solidFill>
              </a:rPr>
              <a:t>Q01 — "Standard delivery timeline?" → [policy_shipping_returns.pdf:1] score=0.42</a:t>
            </a:r>
          </a:p>
          <a:p>
            <a:pPr lvl="1"/>
            <a:r>
              <a:rPr lang="en-US" sz="1700" dirty="0">
                <a:solidFill>
                  <a:srgbClr val="FFFFFF"/>
                </a:solidFill>
                <a:solidFill>
                  <a:srgbClr val="FFFFFF"/>
                </a:solidFill>
              </a:rPr>
              <a:t>Q07 — "What does Precision@k measure?" → [guide_evaluation_metrics.pdf:1]</a:t>
            </a:r>
          </a:p>
          <a:p>
            <a:pPr lvl="1"/>
            <a:r>
              <a:rPr lang="en-US" sz="1700" dirty="0">
                <a:solidFill>
                  <a:srgbClr val="FFFFFF"/>
                </a:solidFill>
                <a:solidFill>
                  <a:srgbClr val="FFFFFF"/>
                </a:solidFill>
              </a:rPr>
              <a:t>Q15 — "What to log for retrieval debugging?" → [guide_logging_monitoring.pdf:1]</a:t>
            </a:r>
          </a:p>
          <a:p>
            <a:pPr lvl="0"/>
            <a:r>
              <a:rPr lang="en-US" sz="1700" dirty="0">
                <a:solidFill>
                  <a:srgbClr val="FFFFFF"/>
                </a:solidFill>
                <a:solidFill>
                  <a:srgbClr val="FFFFFF"/>
                </a:solidFill>
              </a:rPr>
              <a:t>Failure Examples</a:t>
            </a:r>
          </a:p>
          <a:p>
            <a:pPr lvl="1"/>
            <a:r>
              <a:rPr lang="en-US" sz="1700" dirty="0">
                <a:solidFill>
                  <a:srgbClr val="FFFFFF"/>
                </a:solidFill>
                <a:solidFill>
                  <a:srgbClr val="FFFFFF"/>
                </a:solidFill>
              </a:rPr>
              <a:t>No failures on current synthetic eval set — all gold citations appear in top-3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d1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FF"/>
                </a:solidFill>
                <a:solidFill>
                  <a:srgbClr val="FFFFFF"/>
                </a:solidFill>
              </a:rPr>
              <a:t>Failure Cases &amp; Improvements</a:t>
            </a:r>
          </a:p>
        </p:txBody>
      </p:sp>
      <p:sp>
        <p:nvSpPr>
          <p:cNvPr id="3" name="Content Placeholder 2"/>
          <p:cNvSpPr>
            <a:spLocks noGrp="1"/>
          </p:cNvSpPr>
          <p:nvPr>
            <p:ph idx="1"/>
          </p:nvPr>
        </p:nvSpPr>
        <p:spPr>
          <a:xfrm>
            <a:off x="678884" y="1275075"/>
            <a:ext cx="10834234" cy="4798066"/>
          </a:xfrm>
          <a:prstGeom prst="rect">
            <a:avLst/>
          </a:prstGeom>
        </p:spPr>
        <p:txBody>
          <a:bodyPr/>
          <a:lstStyle/>
          <a:p>
            <a:pPr lvl="0"/>
            <a:r>
              <a:rPr lang="en-US" sz="1700" b="1" dirty="0">
                <a:solidFill>
                  <a:srgbClr val="FFFFFF"/>
                </a:solidFill>
                <a:solidFill>
                  <a:srgbClr val="FFFFFF"/>
                </a:solidFill>
              </a:rPr>
              <a:t>❌ FC-1: Keyword Mismatch</a:t>
            </a:r>
          </a:p>
          <a:p>
            <a:pPr lvl="1"/>
            <a:r>
              <a:rPr lang="en-US" sz="1500" dirty="0">
                <a:solidFill>
                  <a:srgbClr val="FFFFFF"/>
                </a:solidFill>
                <a:solidFill>
                  <a:srgbClr val="FFFFFF"/>
                </a:solidFill>
              </a:rPr>
              <a:t>Q: "What is the COD policy?" → retrieved guide_rag_basics.pdf (score 0.21) not policy_payments_security.pdf</a:t>
            </a:r>
          </a:p>
          <a:p>
            <a:pPr lvl="1"/>
            <a:r>
              <a:rPr lang="en-US" sz="1500" dirty="0">
                <a:solidFill>
                  <a:srgbClr val="FFFFFF"/>
                </a:solidFill>
                <a:solidFill>
                  <a:srgbClr val="FFFFFF"/>
                </a:solidFill>
              </a:rPr>
              <a:t>Cause: acronym "COD" absent from embedding vocab — fix: add BM25 hybrid layer</a:t>
            </a:r>
          </a:p>
          <a:p>
            <a:pPr lvl="0"/>
            <a:r>
              <a:rPr lang="en-US" sz="1700" b="1" dirty="0">
                <a:solidFill>
                  <a:srgbClr val="FFFFFF"/>
                </a:solidFill>
                <a:solidFill>
                  <a:srgbClr val="FFFFFF"/>
                </a:solidFill>
              </a:rPr>
              <a:t>❌ FC-2: Chunk Boundary Split</a:t>
            </a:r>
          </a:p>
          <a:p>
            <a:pPr lvl="1"/>
            <a:r>
              <a:rPr lang="en-US" sz="1500" dirty="0">
                <a:solidFill>
                  <a:srgbClr val="FFFFFF"/>
                </a:solidFill>
                <a:solidFill>
                  <a:srgbClr val="FFFFFF"/>
                </a:solidFill>
              </a:rPr>
              <a:t>Q: "What happens after a refund is approved?" → answer truncated mid-sentence at chunk C000021/C000022</a:t>
            </a:r>
          </a:p>
          <a:p>
            <a:pPr lvl="1"/>
            <a:r>
              <a:rPr lang="en-US" sz="1500" dirty="0">
                <a:solidFill>
                  <a:srgbClr val="FFFFFF"/>
                </a:solidFill>
                <a:solidFill>
                  <a:srgbClr val="FFFFFF"/>
                </a:solidFill>
              </a:rPr>
              <a:t>Cause: key sentence split across chunks — fix: increase overlap from 200 to 400 chars</a:t>
            </a:r>
          </a:p>
          <a:p>
            <a:pPr lvl="0"/>
            <a:r>
              <a:rPr lang="en-US" sz="1700" b="1" dirty="0">
                <a:solidFill>
                  <a:srgbClr val="FFFFFF"/>
                </a:solidFill>
                <a:solidFill>
                  <a:srgbClr val="FFFFFF"/>
                </a:solidFill>
              </a:rPr>
              <a:t>❌ FC-3: Multi-Doc Ambiguity</a:t>
            </a:r>
          </a:p>
          <a:p>
            <a:pPr lvl="1"/>
            <a:r>
              <a:rPr lang="en-US" sz="1500" dirty="0">
                <a:solidFill>
                  <a:srgbClr val="FFFFFF"/>
                </a:solidFill>
                <a:solidFill>
                  <a:srgbClr val="FFFFFF"/>
                </a:solidFill>
              </a:rPr>
              <a:t>Q: "What is the data retention period?" → top-3 split across privacy policy AND logging guide</a:t>
            </a:r>
          </a:p>
          <a:p>
            <a:pPr lvl="1"/>
            <a:r>
              <a:rPr lang="en-US" sz="1500" dirty="0">
                <a:solidFill>
                  <a:srgbClr val="FFFFFF"/>
                </a:solidFill>
                <a:solidFill>
                  <a:srgbClr val="FFFFFF"/>
                </a:solidFill>
              </a:rPr>
              <a:t>Cause: no source-priority ranking — fix: cross-encoder reranker + source metadata filtering</a:t>
            </a:r>
          </a:p>
          <a:p>
            <a:pPr lvl="0"/>
            <a:r>
              <a:rPr lang="en-US" sz="1700" b="1" dirty="0">
                <a:solidFill>
                  <a:srgbClr val="FFFFFF"/>
                </a:solidFill>
                <a:solidFill>
                  <a:srgbClr val="FFFFFF"/>
                </a:solidFill>
              </a:rPr>
              <a:t>❌ FC-4: Low-Score False Positive</a:t>
            </a:r>
          </a:p>
          <a:p>
            <a:pPr lvl="1"/>
            <a:r>
              <a:rPr lang="en-US" sz="1500" dirty="0">
                <a:solidFill>
                  <a:srgbClr val="FFFFFF"/>
                </a:solidFill>
                <a:solidFill>
                  <a:srgbClr val="FFFFFF"/>
                </a:solidFill>
              </a:rPr>
              <a:t>Q: "Who is the DPO officer?" → score 0.19, system answered confidently instead of refusing</a:t>
            </a:r>
          </a:p>
          <a:p>
            <a:pPr lvl="1"/>
            <a:r>
              <a:rPr lang="en-US" sz="1500" dirty="0">
                <a:solidFill>
                  <a:srgbClr val="FFFFFF"/>
                </a:solidFill>
                <a:solidFill>
                  <a:srgbClr val="FFFFFF"/>
                </a:solidFill>
              </a:rPr>
              <a:t>Cause: threshold not re-applied after deduplication — fix: raise default threshold to 0.30</a:t>
            </a:r>
          </a:p>
          <a:p>
            <a:pPr lvl="0"/>
            <a:r>
              <a:rPr lang="en-US" sz="1700" b="1" dirty="0">
                <a:solidFill>
                  <a:srgbClr val="FFFFFF"/>
                </a:solidFill>
                <a:solidFill>
                  <a:srgbClr val="FFFFFF"/>
                </a:solidFill>
              </a:rPr>
              <a:t>✓ Applied: cross-encoder reranker + deduplication   ○ Planned: BM25 hybrid, higher threshold, larger overlap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788290"/>
            <a:ext cx="12192000" cy="811522"/>
          </a:xfrm>
          <a:prstGeom prst="rect">
            <a:avLst/>
          </a:prstGeom>
          <a:noFill/>
          <a:ln>
            <a:noFill/>
          </a:ln>
        </p:spPr>
        <p:txBody>
          <a:bodyPr rtlCol="0" anchor="ctr"/>
          <a:lstStyle/>
          <a:p>
            <a:pPr algn="ctr"/>
            <a:r>
              <a:rPr lang="en-US" sz="3600" b="1" dirty="0">
                <a:latin typeface="Calibri" panose="020F0502020204030204" pitchFamily="34" charset="0"/>
              </a:rPr>
              <a:t>Thank You!</a:t>
            </a:r>
          </a:p>
        </p:txBody>
      </p:sp>
      <p:sp>
        <p:nvSpPr>
          <p:cNvPr id="3" name="SubText"/>
          <p:cNvSpPr/>
          <p:nvPr/>
        </p:nvSpPr>
        <p:spPr>
          <a:xfrm>
            <a:off x="457200" y="3700000"/>
            <a:ext cx="11277600" cy="2400000"/>
          </a:xfrm>
          <a:prstGeom prst="rect">
            <a:avLst/>
          </a:prstGeom>
          <a:noFill/>
          <a:ln>
            <a:noFill/>
          </a:ln>
        </p:spPr>
        <p:txBody>
          <a:bodyPr rtlCol="0" anchor="ctr"/>
          <a:lstStyle/>
          <a:p>
            <a:pPr algn="ctr"/>
            <a:r>
              <a:rPr lang="en-US" sz="2000" dirty="0">
                <a:solidFill>
                  <a:srgbClr val="FFFFFF"/>
                </a:solidFill>
              </a:rPr>
              <a:t>Next Steps: LLM synthesis  |  BM25 hybrid  |  Metadata filtering  |  Multilingual support</a:t>
            </a:r>
          </a:p>
          <a:p>
            <a:pPr algn="ctr"/>
            <a:r>
              <a:rPr lang="en-US" sz="1800" dirty="0">
                <a:solidFill>
                  <a:srgbClr val="AAAAAA"/>
                </a:solidFill>
              </a:rPr>
              <a:t>Presented by: Mohammed Wasiullah</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6900</TotalTime>
  <Words>1037</Words>
  <Application>Microsoft Office PowerPoint</Application>
  <PresentationFormat>Widescreen</PresentationFormat>
  <Paragraphs>111</Paragraphs>
  <Slides>15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BIA Template</vt:lpstr>
      <vt:lpstr>PowerPoint Presentation</vt:lpstr>
      <vt:lpstr>Agenda</vt:lpstr>
      <vt:lpstr>Problem Statement &amp; Objectives</vt:lpstr>
      <vt:lpstr>Part 1: Architecture</vt:lpstr>
      <vt:lpstr>RAG Pipeline Overview</vt:lpstr>
      <vt:lpstr>PDF Ingestion &amp; Chunking Strategy</vt:lpstr>
      <vt:lpstr>Embeddings &amp; Vector Indexing (FAISS)</vt:lpstr>
      <vt:lpstr>Part 2: Retrieval &amp; Transparency</vt:lpstr>
      <vt:lpstr>Transparent Retrieval Traces</vt:lpstr>
      <vt:lpstr>Citations &amp; Low-Confidence Handling</vt:lpstr>
      <vt:lpstr>Demo Flow — Streamlit App</vt:lpstr>
      <vt:lpstr>Part 3: Evaluation</vt:lpstr>
      <vt:lpstr>Evaluation Results — Precision@k</vt:lpstr>
      <vt:lpstr>Failure Cases &amp; Improvements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Mohammed Wasiullah</cp:lastModifiedBy>
  <cp:revision>2255</cp:revision>
  <dcterms:created xsi:type="dcterms:W3CDTF">2020-12-23T13:36:00Z</dcterms:created>
  <dcterms:modified xsi:type="dcterms:W3CDTF">2026-05-24T13:01:13Z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